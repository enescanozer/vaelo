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Altyapı</c:v>
                </c:pt>
              </c:strCache>
            </c:strRef>
          </c:tx>
          <c:spPr>
            <a:solidFill>
              <a:srgbClr val="4A4A54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0A0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Çeyrek 1</c:v>
                  </c:pt>
                  <c:pt idx="1">
                    <c:v>Çeyrek 2</c:v>
                  </c:pt>
                  <c:pt idx="2">
                    <c:v>Çeyrek 3</c:v>
                  </c:pt>
                  <c:pt idx="3">
                    <c:v>Çeyrek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600</c:v>
                </c:pt>
                <c:pt idx="2">
                  <c:v>1500</c:v>
                </c:pt>
                <c:pt idx="3">
                  <c:v>3000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Pazarlama</c:v>
                </c:pt>
              </c:strCache>
            </c:strRef>
          </c:tx>
          <c:spPr>
            <a:solidFill>
              <a:srgbClr val="CDFF4A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0A0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Çeyrek 1</c:v>
                  </c:pt>
                  <c:pt idx="1">
                    <c:v>Çeyrek 2</c:v>
                  </c:pt>
                  <c:pt idx="2">
                    <c:v>Çeyrek 3</c:v>
                  </c:pt>
                  <c:pt idx="3">
                    <c:v>Çeyrek 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1500</c:v>
                </c:pt>
                <c:pt idx="1">
                  <c:v>7500</c:v>
                </c:pt>
                <c:pt idx="2">
                  <c:v>6000</c:v>
                </c:pt>
                <c:pt idx="3">
                  <c:v>4500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İçerik/ödül</c:v>
                </c:pt>
              </c:strCache>
            </c:strRef>
          </c:tx>
          <c:spPr>
            <a:solidFill>
              <a:srgbClr val="E7C34A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0A0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Çeyrek 1</c:v>
                  </c:pt>
                  <c:pt idx="1">
                    <c:v>Çeyrek 2</c:v>
                  </c:pt>
                  <c:pt idx="2">
                    <c:v>Çeyrek 3</c:v>
                  </c:pt>
                  <c:pt idx="3">
                    <c:v>Çeyrek 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600</c:v>
                </c:pt>
                <c:pt idx="1">
                  <c:v>1500</c:v>
                </c:pt>
                <c:pt idx="2">
                  <c:v>1500</c:v>
                </c:pt>
                <c:pt idx="3">
                  <c:v>1500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A0A0B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8F8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26262C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8F8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ECEEE9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Dağılım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DFF4A"/>
              </a:solidFill>
              <a:effectLst/>
            </c:spPr>
          </c:dPt>
          <c:dPt>
            <c:idx val="1"/>
            <c:bubble3D val="0"/>
            <c:spPr>
              <a:solidFill>
                <a:srgbClr val="5AB0E6"/>
              </a:solidFill>
              <a:effectLst/>
            </c:spPr>
          </c:dPt>
          <c:dPt>
            <c:idx val="2"/>
            <c:bubble3D val="0"/>
            <c:spPr>
              <a:solidFill>
                <a:srgbClr val="E7C34A"/>
              </a:solidFill>
              <a:effectLst/>
            </c:spPr>
          </c:dPt>
          <c:dPt>
            <c:idx val="3"/>
            <c:bubble3D val="0"/>
            <c:spPr>
              <a:solidFill>
                <a:srgbClr val="C88CE0"/>
              </a:solidFill>
              <a:effectLst/>
            </c:spPr>
          </c:dPt>
          <c:dPt>
            <c:idx val="4"/>
            <c:bubble3D val="0"/>
            <c:spPr>
              <a:solidFill>
                <a:srgbClr val="8C8F88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A0A0B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A0A0B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A0A0B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A0A0B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A0A0B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Yarışma ödülleri</c:v>
                </c:pt>
                <c:pt idx="1">
                  <c:v>Ücretli sosyal reklam</c:v>
                </c:pt>
                <c:pt idx="2">
                  <c:v>Influencer / üretici</c:v>
                </c:pt>
                <c:pt idx="3">
                  <c:v>PR &amp; topluluk</c:v>
                </c:pt>
                <c:pt idx="4">
                  <c:v>Yaratıcı üretim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30</c:v>
                </c:pt>
                <c:pt idx="1">
                  <c:v>35</c:v>
                </c:pt>
                <c:pt idx="2">
                  <c:v>20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Aylık gelir (çeyrek sonu)</c:v>
                </c:pt>
              </c:strCache>
            </c:strRef>
          </c:tx>
          <c:spPr>
            <a:solidFill>
              <a:srgbClr val="CDFF4A"/>
            </a:solidFill>
            <a:ln w="38100" cap="flat">
              <a:solidFill>
                <a:srgbClr val="CDFF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DFF4A"/>
              </a:solidFill>
              <a:ln w="9525" cap="flat">
                <a:solidFill>
                  <a:srgbClr val="CDFF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Çeyrek 1</c:v>
                  </c:pt>
                  <c:pt idx="1">
                    <c:v>Çeyrek 2</c:v>
                  </c:pt>
                  <c:pt idx="2">
                    <c:v>Çeyrek 3</c:v>
                  </c:pt>
                  <c:pt idx="3">
                    <c:v>Çeyrek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800</c:v>
                </c:pt>
                <c:pt idx="2">
                  <c:v>5000</c:v>
                </c:pt>
                <c:pt idx="3">
                  <c:v>16000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Aylık altyapı maliyeti</c:v>
                </c:pt>
              </c:strCache>
            </c:strRef>
          </c:tx>
          <c:spPr>
            <a:solidFill>
              <a:srgbClr val="E2574C"/>
            </a:solidFill>
            <a:ln w="38100" cap="flat">
              <a:solidFill>
                <a:srgbClr val="E257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2574C"/>
              </a:solidFill>
              <a:ln w="9525" cap="flat">
                <a:solidFill>
                  <a:srgbClr val="E257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Çeyrek 1</c:v>
                  </c:pt>
                  <c:pt idx="1">
                    <c:v>Çeyrek 2</c:v>
                  </c:pt>
                  <c:pt idx="2">
                    <c:v>Çeyrek 3</c:v>
                  </c:pt>
                  <c:pt idx="3">
                    <c:v>Çeyrek 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</c:v>
                </c:pt>
                <c:pt idx="1">
                  <c:v>300</c:v>
                </c:pt>
                <c:pt idx="2">
                  <c:v>900</c:v>
                </c:pt>
                <c:pt idx="3">
                  <c:v>2400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8F8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26262C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8F8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ECEEE9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2926080"/>
            <a:ext cx="7315200" cy="7315200"/>
          </a:xfrm>
          <a:prstGeom prst="ellipse">
            <a:avLst/>
          </a:prstGeom>
          <a:solidFill>
            <a:srgbClr val="CDFF4A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A E L 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19659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60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Bütçe &amp;
</a:t>
            </a:r>
            <a:pPr indent="0" marL="0">
              <a:lnSpc>
                <a:spcPct val="98000"/>
              </a:lnSpc>
              <a:buNone/>
            </a:pPr>
            <a:r>
              <a:rPr lang="en-US" sz="6000" b="1" dirty="0">
                <a:solidFill>
                  <a:srgbClr val="CD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Lansman Planı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Detaylı bütçe · reklam · lansman · yaygınlaştırma stratejisi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507492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151A0C"/>
          </a:solidFill>
          <a:ln w="12700">
            <a:solidFill>
              <a:srgbClr val="3C4A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5230368"/>
            <a:ext cx="146304" cy="146304"/>
          </a:xfrm>
          <a:prstGeom prst="ellipse">
            <a:avLst/>
          </a:prstGeom>
          <a:solidFill>
            <a:srgbClr val="CDFF4A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5074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D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ÇEKİRDEK PLATFORM CANLI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64190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yapımı film, dizi ve sanat · her zaman ücretsiz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D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BAŞLANGIÇ NOKTASI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Çalışan bir üründen başlıyoruz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VAELO · Bütçe &amp; Lansman Planı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502152" cy="2286000"/>
          </a:xfrm>
          <a:prstGeom prst="roundRect">
            <a:avLst>
              <a:gd name="adj" fmla="val 3600"/>
            </a:avLst>
          </a:prstGeom>
          <a:solidFill>
            <a:srgbClr val="1C1C22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194560"/>
            <a:ext cx="3044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D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CANLI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Çekirdek platform (web + mobil) gerçek buluta bağlı ve çalışıyor.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25112" y="1920240"/>
            <a:ext cx="3502152" cy="2286000"/>
          </a:xfrm>
          <a:prstGeom prst="roundRect">
            <a:avLst>
              <a:gd name="adj" fmla="val 3600"/>
            </a:avLst>
          </a:prstGeom>
          <a:solidFill>
            <a:srgbClr val="1C1C22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53712" y="2194560"/>
            <a:ext cx="3044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~$15/ay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53712" y="3246120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Stream ile videolu lansmanın başlangıç altyapı maliyeti.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01584" y="1920240"/>
            <a:ext cx="3502152" cy="2286000"/>
          </a:xfrm>
          <a:prstGeom prst="roundRect">
            <a:avLst>
              <a:gd name="adj" fmla="val 3600"/>
            </a:avLst>
          </a:prstGeom>
          <a:solidFill>
            <a:srgbClr val="1C1C22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30184" y="2194560"/>
            <a:ext cx="3044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dil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330184" y="3246120"/>
            <a:ext cx="3044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· TR · ES · DE · FR — ilk günden global erişim.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663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plan sıfırdan bir fikir değil; canlı bir ürünü büyütmek için gereken bütçeyi ve lansman stratejisini tanımlar.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D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BÜTÇE · GENEL BAKIŞ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Bütçe üç kalemde toplanır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VAELO · Bütçe &amp; Lansman Planı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02152" cy="3291840"/>
          </a:xfrm>
          <a:prstGeom prst="roundRect">
            <a:avLst>
              <a:gd name="adj" fmla="val 2500"/>
            </a:avLst>
          </a:prstGeom>
          <a:solidFill>
            <a:srgbClr val="1C1C22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121408"/>
            <a:ext cx="548640" cy="548640"/>
          </a:xfrm>
          <a:prstGeom prst="ellipse">
            <a:avLst/>
          </a:prstGeom>
          <a:solidFill>
            <a:srgbClr val="0A0A0B"/>
          </a:solidFill>
          <a:ln w="19050">
            <a:solidFill>
              <a:srgbClr val="CDFF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121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D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283464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Altyapı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4672" y="320040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DF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Kullanımla ölçeklenir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356616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~$15 → $2.000+/ay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04672" y="411480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· Cloudflare Stream · Claude (moderasyon + alt yazı). İzlenen video dakikasıyla büyür.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25112" y="1828800"/>
            <a:ext cx="3502152" cy="3291840"/>
          </a:xfrm>
          <a:prstGeom prst="roundRect">
            <a:avLst>
              <a:gd name="adj" fmla="val 2500"/>
            </a:avLst>
          </a:prstGeom>
          <a:solidFill>
            <a:srgbClr val="1C1C22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81144" y="2121408"/>
            <a:ext cx="548640" cy="548640"/>
          </a:xfrm>
          <a:prstGeom prst="ellipse">
            <a:avLst/>
          </a:prstGeom>
          <a:solidFill>
            <a:srgbClr val="0A0A0B"/>
          </a:solidFill>
          <a:ln w="19050">
            <a:solidFill>
              <a:srgbClr val="E7C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81144" y="2121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C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81144" y="283464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Pazarlama &amp; edinim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81144" y="320040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yatırım kalemi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81144" y="356616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 → $8.000/ay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81144" y="411480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Yarışma ödülleri · ücretli reklam · influencer/üretici · PR. Büyümenin motoru.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01584" y="1828800"/>
            <a:ext cx="3502152" cy="3291840"/>
          </a:xfrm>
          <a:prstGeom prst="roundRect">
            <a:avLst>
              <a:gd name="adj" fmla="val 2500"/>
            </a:avLst>
          </a:prstGeom>
          <a:solidFill>
            <a:srgbClr val="1C1C22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57616" y="2121408"/>
            <a:ext cx="548640" cy="548640"/>
          </a:xfrm>
          <a:prstGeom prst="ellipse">
            <a:avLst/>
          </a:prstGeom>
          <a:solidFill>
            <a:srgbClr val="0A0A0B"/>
          </a:solidFill>
          <a:ln w="19050">
            <a:solidFill>
              <a:srgbClr val="5AB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57616" y="2121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B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57616" y="283464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Araçlar &amp; mağaza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57616" y="320040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B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sabit gider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57616" y="356616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~$260/yıl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357616" y="411480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adı · Apple ($99/yıl) · Google Play ($25) · EAS build.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DF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İzleyiciye her zaman ücretsiz — altyapı maliyeti reklam/sponsor geliriyle eşleşecek şekilde tasarlandı.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D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BÜTÇE · ALTYAPI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Birim maliyetler — neye ne ödenir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VAELO · Bütçe &amp; Lansman Planı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91672" cy="4425696"/>
          </a:xfrm>
          <a:prstGeom prst="roundRect">
            <a:avLst>
              <a:gd name="adj" fmla="val 1860"/>
            </a:avLst>
          </a:prstGeom>
          <a:solidFill>
            <a:srgbClr val="15151A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874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SERVİS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İÇİN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FİYAT (TAHMİNİ)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22860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Veritabanı, giriş, depolama, fonksiyonlar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503920" y="22860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DF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Ücretsiz → $25/ay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2852928"/>
            <a:ext cx="10543032" cy="0"/>
          </a:xfrm>
          <a:prstGeom prst="line">
            <a:avLst/>
          </a:prstGeom>
          <a:noFill/>
          <a:ln w="9525">
            <a:solidFill>
              <a:srgbClr val="2E2E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8529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Stream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285292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depolama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503920" y="285292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DF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 / 1.000 dk·ay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3419856"/>
            <a:ext cx="10543032" cy="0"/>
          </a:xfrm>
          <a:prstGeom prst="line">
            <a:avLst/>
          </a:prstGeom>
          <a:noFill/>
          <a:ln w="9525">
            <a:solidFill>
              <a:srgbClr val="2E2E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41985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Stream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0" y="341985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teslim (izlenen dakika)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503920" y="341985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DF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 / 1.000 dk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" y="3986784"/>
            <a:ext cx="10543032" cy="0"/>
          </a:xfrm>
          <a:prstGeom prst="line">
            <a:avLst/>
          </a:prstGeom>
          <a:noFill/>
          <a:ln w="9525">
            <a:solidFill>
              <a:srgbClr val="2E2E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98678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Pages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0" y="398678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barındırma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503920" y="398678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DF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Ücretsiz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22960" y="4553712"/>
            <a:ext cx="10543032" cy="0"/>
          </a:xfrm>
          <a:prstGeom prst="line">
            <a:avLst/>
          </a:prstGeom>
          <a:noFill/>
          <a:ln w="9525">
            <a:solidFill>
              <a:srgbClr val="2E2E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55371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14800" y="455371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Bildirim e-postaları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503920" y="455371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DF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Ücretsiz → $20/ay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22960" y="5120640"/>
            <a:ext cx="10543032" cy="0"/>
          </a:xfrm>
          <a:prstGeom prst="line">
            <a:avLst/>
          </a:prstGeom>
          <a:noFill/>
          <a:ln w="9525">
            <a:solidFill>
              <a:srgbClr val="2E2E3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1206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(Claude)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114800" y="51206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Moderasyon + alt yazı çevirisi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503920" y="51206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DF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~$0,02–0,10 / video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22960" y="5687568"/>
            <a:ext cx="10543032" cy="0"/>
          </a:xfrm>
          <a:prstGeom prst="line">
            <a:avLst/>
          </a:prstGeom>
          <a:noFill/>
          <a:ln w="9525">
            <a:solidFill>
              <a:srgbClr val="2E2E3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568756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adı + mobil mağaza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114800" y="568756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· Apple · Google Play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8503920" y="56875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DF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~$260 / yıl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D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 gider çok düşük; asıl maliyet izlenen video dakikasıyla (teslim) büyür ve reklam geliriyle eşleşir.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D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BÜTÇE · 12 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Çeyreklik gider — “Destekli lansman”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VAELO · Bütçe &amp; Lansman Planı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7406640" cy="4160520"/>
          </a:xfrm>
          <a:prstGeom prst="roundRect">
            <a:avLst>
              <a:gd name="adj" fmla="val 1978"/>
            </a:avLst>
          </a:prstGeom>
          <a:solidFill>
            <a:srgbClr val="15151A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45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777240" y="205740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229600" y="1828800"/>
            <a:ext cx="3410712" cy="4160520"/>
          </a:xfrm>
          <a:prstGeom prst="roundRect">
            <a:avLst>
              <a:gd name="adj" fmla="val 2413"/>
            </a:avLst>
          </a:prstGeom>
          <a:solidFill>
            <a:srgbClr val="1C1C22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503920" y="2103120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İLK YIL TOPLAM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503920" y="2377440"/>
            <a:ext cx="2862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D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~$30.300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8503920" y="3429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Altyapı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966960" y="3429000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~$5.220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503920" y="3931920"/>
            <a:ext cx="2862072" cy="0"/>
          </a:xfrm>
          <a:prstGeom prst="line">
            <a:avLst/>
          </a:prstGeom>
          <a:noFill/>
          <a:ln w="9525">
            <a:solidFill>
              <a:srgbClr val="2E2E3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03920" y="39959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Pazarlama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966960" y="3995928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~$19.500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503920" y="4498848"/>
            <a:ext cx="2862072" cy="0"/>
          </a:xfrm>
          <a:prstGeom prst="line">
            <a:avLst/>
          </a:prstGeom>
          <a:noFill/>
          <a:ln w="9525">
            <a:solidFill>
              <a:srgbClr val="2E2E3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03920" y="456285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İçerik/ödül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966960" y="4562856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~$5.100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503920" y="5065776"/>
            <a:ext cx="2862072" cy="0"/>
          </a:xfrm>
          <a:prstGeom prst="line">
            <a:avLst/>
          </a:prstGeom>
          <a:noFill/>
          <a:ln w="9525">
            <a:solidFill>
              <a:srgbClr val="2E2E3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03920" y="512978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Araçlar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966960" y="5129784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~$450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503920" y="5632704"/>
            <a:ext cx="2862072" cy="0"/>
          </a:xfrm>
          <a:prstGeom prst="line">
            <a:avLst/>
          </a:prstGeom>
          <a:noFill/>
          <a:ln w="9525">
            <a:solidFill>
              <a:srgbClr val="2E2E3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Tahmini · orta (Destekli) senaryo. Yalın ve agresif alternatifler sonraki sayfada.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D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BÜTÇE · GEREKLI FINANSMAN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İlk yıl — üç finansman katmanı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VAELO · Bütçe &amp; Lansman Planı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02152" cy="3977640"/>
          </a:xfrm>
          <a:prstGeom prst="roundRect">
            <a:avLst>
              <a:gd name="adj" fmla="val 2350"/>
            </a:avLst>
          </a:prstGeom>
          <a:solidFill>
            <a:srgbClr val="1C1C22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075688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Yalın / Bootstrap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~$6.000</a:t>
            </a:r>
            <a:pPr indent="0" marL="0">
              <a:buNone/>
            </a:pPr>
            <a:r>
              <a:rPr lang="en-US" sz="13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yıl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Altyapı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3383280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~$1.500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Pazarlama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3840480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~$3.600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297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Diğer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4297680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~$900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800600"/>
            <a:ext cx="2953512" cy="0"/>
          </a:xfrm>
          <a:prstGeom prst="line">
            <a:avLst/>
          </a:prstGeom>
          <a:noFill/>
          <a:ln w="9525">
            <a:solidFill>
              <a:srgbClr val="2E2E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910328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Organik ağırlıklı · küçük ödüller · ücretli reklam yok. Kartla döndürülebilir.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25112" y="1783080"/>
            <a:ext cx="3502152" cy="3977640"/>
          </a:xfrm>
          <a:prstGeom prst="roundRect">
            <a:avLst>
              <a:gd name="adj" fmla="val 2350"/>
            </a:avLst>
          </a:prstGeom>
          <a:solidFill>
            <a:srgbClr val="18200B"/>
          </a:solidFill>
          <a:ln w="12700">
            <a:solidFill>
              <a:srgbClr val="3C4A18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18504" y="2039112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CDFF4A"/>
          </a:solidFill>
          <a:ln/>
        </p:spPr>
      </p:sp>
      <p:sp>
        <p:nvSpPr>
          <p:cNvPr id="19" name="Text 17"/>
          <p:cNvSpPr/>
          <p:nvPr/>
        </p:nvSpPr>
        <p:spPr>
          <a:xfrm>
            <a:off x="6318504" y="20391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ÖNERİLEN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99432" y="2075688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Destekli lansman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4599432" y="256032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CD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~$30.000</a:t>
            </a:r>
            <a:pPr indent="0" marL="0">
              <a:buNone/>
            </a:pPr>
            <a:r>
              <a:rPr lang="en-US" sz="13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yıl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4599432" y="3383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Altyapı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45352" y="3383280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~$5.200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99432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Pazarlama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45352" y="3840480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~$19.500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99432" y="4297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İçerik/ödül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45352" y="4297680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~$5.100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99432" y="4800600"/>
            <a:ext cx="2953512" cy="0"/>
          </a:xfrm>
          <a:prstGeom prst="line">
            <a:avLst/>
          </a:prstGeom>
          <a:noFill/>
          <a:ln w="9525">
            <a:solidFill>
              <a:srgbClr val="3C4A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9432" y="4910328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Ücretli reklam + PR + düzenli yarışma ödülleri. Dengeli, önerilen yol.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01584" y="1783080"/>
            <a:ext cx="3502152" cy="3977640"/>
          </a:xfrm>
          <a:prstGeom prst="roundRect">
            <a:avLst>
              <a:gd name="adj" fmla="val 2350"/>
            </a:avLst>
          </a:prstGeom>
          <a:solidFill>
            <a:srgbClr val="1C1C22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4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375904" y="2075688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Agresif büyüme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8375904" y="256032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7C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$80–120K</a:t>
            </a:r>
            <a:pPr indent="0" marL="0">
              <a:buNone/>
            </a:pPr>
            <a:r>
              <a:rPr lang="en-US" sz="13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yıl</a:t>
            </a:r>
            <a:endParaRPr lang="en-US" sz="3300" dirty="0"/>
          </a:p>
        </p:txBody>
      </p:sp>
      <p:sp>
        <p:nvSpPr>
          <p:cNvPr id="33" name="Text 31"/>
          <p:cNvSpPr/>
          <p:nvPr/>
        </p:nvSpPr>
        <p:spPr>
          <a:xfrm>
            <a:off x="8375904" y="3383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Altyapı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021824" y="3383280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~$8.000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375904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Pazarlama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021824" y="3840480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$65–100K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375904" y="4297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İçerik/ödül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021824" y="4297680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~$12.000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375904" y="4800600"/>
            <a:ext cx="2953512" cy="0"/>
          </a:xfrm>
          <a:prstGeom prst="line">
            <a:avLst/>
          </a:prstGeom>
          <a:noFill/>
          <a:ln w="9525">
            <a:solidFill>
              <a:srgbClr val="2E2E3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75904" y="4910328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Yoğun ücretli edinim · hızlı ölçek. Dış finansman/yatırım gerektirir.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D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REKLAM &amp; LANSMAN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Lansman planı — üç faz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VAELO · Bütçe &amp; Lansman Planı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02152" cy="3977640"/>
          </a:xfrm>
          <a:prstGeom prst="roundRect">
            <a:avLst>
              <a:gd name="adj" fmla="val 2350"/>
            </a:avLst>
          </a:prstGeom>
          <a:solidFill>
            <a:srgbClr val="1C1C22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0574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CDFF4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00200" y="207568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D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 1–2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00200" y="2331720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Yumuşak lansman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3017520"/>
            <a:ext cx="2953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içerik seti + üretici daveti + ilk yarışma. Kapalı çevrede test, geri bildirim.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389120"/>
            <a:ext cx="2953512" cy="0"/>
          </a:xfrm>
          <a:prstGeom prst="line">
            <a:avLst/>
          </a:prstGeom>
          <a:noFill/>
          <a:ln w="9525">
            <a:solidFill>
              <a:srgbClr val="2E2E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480560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BÜTÇE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70916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~$1.5–2K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22960" y="521208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DF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Hedef: 1.000 kullanıcı · 30 video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5112" y="1783080"/>
            <a:ext cx="3502152" cy="3977640"/>
          </a:xfrm>
          <a:prstGeom prst="roundRect">
            <a:avLst>
              <a:gd name="adj" fmla="val 2350"/>
            </a:avLst>
          </a:prstGeom>
          <a:solidFill>
            <a:srgbClr val="1C1C22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99432" y="20574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7C34A"/>
          </a:solidFill>
          <a:ln/>
        </p:spPr>
      </p:sp>
      <p:sp>
        <p:nvSpPr>
          <p:cNvPr id="18" name="Text 16"/>
          <p:cNvSpPr/>
          <p:nvPr/>
        </p:nvSpPr>
        <p:spPr>
          <a:xfrm>
            <a:off x="4599432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376672" y="207568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C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 3–6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76672" y="2331720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Kamuya lansman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599432" y="3017520"/>
            <a:ext cx="2953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(AI teması) + ücretli sosyal reklam + yarışma büyütme + mobil mağaza yayını.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99432" y="4389120"/>
            <a:ext cx="2953512" cy="0"/>
          </a:xfrm>
          <a:prstGeom prst="line">
            <a:avLst/>
          </a:prstGeom>
          <a:noFill/>
          <a:ln w="9525">
            <a:solidFill>
              <a:srgbClr val="2E2E3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9432" y="4480560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BÜTÇE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99432" y="470916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~$18–22K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4599432" y="521208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Hedef: 10K→40K kullanıcı · ilk sponsor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01584" y="1783080"/>
            <a:ext cx="3502152" cy="3977640"/>
          </a:xfrm>
          <a:prstGeom prst="roundRect">
            <a:avLst>
              <a:gd name="adj" fmla="val 2350"/>
            </a:avLst>
          </a:prstGeom>
          <a:solidFill>
            <a:srgbClr val="1C1C22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375904" y="20574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5AB0E6"/>
          </a:solidFill>
          <a:ln/>
        </p:spPr>
      </p:sp>
      <p:sp>
        <p:nvSpPr>
          <p:cNvPr id="28" name="Text 26"/>
          <p:cNvSpPr/>
          <p:nvPr/>
        </p:nvSpPr>
        <p:spPr>
          <a:xfrm>
            <a:off x="8375904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153144" y="207568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B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 6–12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53144" y="2331720"/>
            <a:ext cx="222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Yaygınlaştırma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375904" y="3017520"/>
            <a:ext cx="2953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satışı + VAST reklam + üretici ödemeleri + bölgesel/çok-dilli yarışmalar.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75904" y="4389120"/>
            <a:ext cx="2953512" cy="0"/>
          </a:xfrm>
          <a:prstGeom prst="line">
            <a:avLst/>
          </a:prstGeom>
          <a:noFill/>
          <a:ln w="9525">
            <a:solidFill>
              <a:srgbClr val="2E2E3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75904" y="4480560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BÜTÇE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75904" y="470916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~$15–18K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8375904" y="521208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B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Hedef: 100K+ kullanıcı · gelir &gt; altyapı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D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REKLAM &amp; LANSMAN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Edinim kanalları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VAELO · Bütçe &amp; Lansman Planı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02152" cy="1783080"/>
          </a:xfrm>
          <a:prstGeom prst="roundRect">
            <a:avLst>
              <a:gd name="adj" fmla="val 4615"/>
            </a:avLst>
          </a:prstGeom>
          <a:solidFill>
            <a:srgbClr val="1C1C22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121408"/>
            <a:ext cx="256032" cy="256032"/>
          </a:xfrm>
          <a:prstGeom prst="ellipse">
            <a:avLst/>
          </a:prstGeom>
          <a:solidFill>
            <a:srgbClr val="CDFF4A"/>
          </a:solidFill>
          <a:ln/>
        </p:spPr>
      </p:sp>
      <p:sp>
        <p:nvSpPr>
          <p:cNvPr id="8" name="Text 6"/>
          <p:cNvSpPr/>
          <p:nvPr/>
        </p:nvSpPr>
        <p:spPr>
          <a:xfrm>
            <a:off x="1207008" y="2048256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Yarışma motoru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Tablo + film yarışmaları ürüne gömülü edinim yaratır; kazananlar sosyalde paylaşır.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5112" y="1828800"/>
            <a:ext cx="3502152" cy="1783080"/>
          </a:xfrm>
          <a:prstGeom prst="roundRect">
            <a:avLst>
              <a:gd name="adj" fmla="val 4615"/>
            </a:avLst>
          </a:prstGeom>
          <a:solidFill>
            <a:srgbClr val="1C1C22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9432" y="2121408"/>
            <a:ext cx="256032" cy="256032"/>
          </a:xfrm>
          <a:prstGeom prst="ellipse">
            <a:avLst/>
          </a:prstGeom>
          <a:solidFill>
            <a:srgbClr val="5AB0E6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2048256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Ücretli sosyal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99432" y="2606040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· Meta · YouTube — AI içerik doğal viral; derin bağlantı + OG kartları hazır.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01584" y="1828800"/>
            <a:ext cx="3502152" cy="1783080"/>
          </a:xfrm>
          <a:prstGeom prst="roundRect">
            <a:avLst>
              <a:gd name="adj" fmla="val 4615"/>
            </a:avLst>
          </a:prstGeom>
          <a:solidFill>
            <a:srgbClr val="1C1C22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2121408"/>
            <a:ext cx="256032" cy="256032"/>
          </a:xfrm>
          <a:prstGeom prst="ellipse">
            <a:avLst/>
          </a:prstGeom>
          <a:solidFill>
            <a:srgbClr val="E7C34A"/>
          </a:solidFill>
          <a:ln/>
        </p:spPr>
      </p:sp>
      <p:sp>
        <p:nvSpPr>
          <p:cNvPr id="16" name="Text 14"/>
          <p:cNvSpPr/>
          <p:nvPr/>
        </p:nvSpPr>
        <p:spPr>
          <a:xfrm>
            <a:off x="8759952" y="2048256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 / üretici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75904" y="2606040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kitlelerini getirirler; izlenmeyle kazandıkları için teşvikli (gelir paylaşımı).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3502152" cy="1783080"/>
          </a:xfrm>
          <a:prstGeom prst="roundRect">
            <a:avLst>
              <a:gd name="adj" fmla="val 4615"/>
            </a:avLst>
          </a:prstGeom>
          <a:solidFill>
            <a:srgbClr val="1C1C22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4178808"/>
            <a:ext cx="256032" cy="256032"/>
          </a:xfrm>
          <a:prstGeom prst="ellipse">
            <a:avLst/>
          </a:prstGeom>
          <a:solidFill>
            <a:srgbClr val="C88CE0"/>
          </a:solidFill>
          <a:ln/>
        </p:spPr>
      </p:sp>
      <p:sp>
        <p:nvSpPr>
          <p:cNvPr id="20" name="Text 18"/>
          <p:cNvSpPr/>
          <p:nvPr/>
        </p:nvSpPr>
        <p:spPr>
          <a:xfrm>
            <a:off x="1207008" y="4105656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&amp; medya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4663440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“Yalnızca AI içerik” konumu basın için haber değeri taşır — düşük maliyetli erişim.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325112" y="3886200"/>
            <a:ext cx="3502152" cy="1783080"/>
          </a:xfrm>
          <a:prstGeom prst="roundRect">
            <a:avLst>
              <a:gd name="adj" fmla="val 4615"/>
            </a:avLst>
          </a:prstGeom>
          <a:solidFill>
            <a:srgbClr val="1C1C22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99432" y="4178808"/>
            <a:ext cx="256032" cy="256032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4105656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satışı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99432" y="4663440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Markalar AI-meraklısı kitleye pre-roll ile ulaşır — platformun ana gelir kalemi.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101584" y="3886200"/>
            <a:ext cx="3502152" cy="1783080"/>
          </a:xfrm>
          <a:prstGeom prst="roundRect">
            <a:avLst>
              <a:gd name="adj" fmla="val 4615"/>
            </a:avLst>
          </a:prstGeom>
          <a:solidFill>
            <a:srgbClr val="1C1C22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375904" y="4178808"/>
            <a:ext cx="256032" cy="256032"/>
          </a:xfrm>
          <a:prstGeom prst="ellipse">
            <a:avLst/>
          </a:prstGeom>
          <a:solidFill>
            <a:srgbClr val="5FCF9E"/>
          </a:solidFill>
          <a:ln/>
        </p:spPr>
      </p:sp>
      <p:sp>
        <p:nvSpPr>
          <p:cNvPr id="28" name="Text 26"/>
          <p:cNvSpPr/>
          <p:nvPr/>
        </p:nvSpPr>
        <p:spPr>
          <a:xfrm>
            <a:off x="8759952" y="4105656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Topluluk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75904" y="4663440"/>
            <a:ext cx="2953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+ üretici programı ile sadakat, tekrar katılım ve organik içerik akışı.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D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REKLAM &amp; LANSMAN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Pazarlama bütçesi nasıl dağılır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VAELO · Bütçe &amp; Lansman Planı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852160" cy="4160520"/>
          </a:xfrm>
          <a:prstGeom prst="roundRect">
            <a:avLst>
              <a:gd name="adj" fmla="val 1978"/>
            </a:avLst>
          </a:prstGeom>
          <a:solidFill>
            <a:srgbClr val="15151A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45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822960" y="2148840"/>
          <a:ext cx="53035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675120" y="1874520"/>
            <a:ext cx="4965192" cy="731520"/>
          </a:xfrm>
          <a:prstGeom prst="roundRect">
            <a:avLst>
              <a:gd name="adj" fmla="val 11250"/>
            </a:avLst>
          </a:prstGeom>
          <a:solidFill>
            <a:srgbClr val="1C1C22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931152" y="2157984"/>
            <a:ext cx="182880" cy="182880"/>
          </a:xfrm>
          <a:prstGeom prst="ellipse">
            <a:avLst/>
          </a:prstGeom>
          <a:solidFill>
            <a:srgbClr val="CDFF4A"/>
          </a:solidFill>
          <a:ln/>
        </p:spPr>
      </p:sp>
      <p:sp>
        <p:nvSpPr>
          <p:cNvPr id="10" name="Text 7"/>
          <p:cNvSpPr/>
          <p:nvPr/>
        </p:nvSpPr>
        <p:spPr>
          <a:xfrm>
            <a:off x="7242048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Yarışma ödülleri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242048" y="22585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Edinim motoru — haftalık katılım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634472" y="187452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D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6675120" y="2715768"/>
            <a:ext cx="4965192" cy="731520"/>
          </a:xfrm>
          <a:prstGeom prst="roundRect">
            <a:avLst>
              <a:gd name="adj" fmla="val 11250"/>
            </a:avLst>
          </a:prstGeom>
          <a:solidFill>
            <a:srgbClr val="1C1C22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931152" y="2999232"/>
            <a:ext cx="182880" cy="182880"/>
          </a:xfrm>
          <a:prstGeom prst="ellipse">
            <a:avLst/>
          </a:prstGeom>
          <a:solidFill>
            <a:srgbClr val="5AB0E6"/>
          </a:solidFill>
          <a:ln/>
        </p:spPr>
      </p:sp>
      <p:sp>
        <p:nvSpPr>
          <p:cNvPr id="15" name="Text 12"/>
          <p:cNvSpPr/>
          <p:nvPr/>
        </p:nvSpPr>
        <p:spPr>
          <a:xfrm>
            <a:off x="7242048" y="28072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Ücretli sosyal reklam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242048" y="3099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TikTok/Meta/YouTube hızlandırma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634472" y="2715768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5AB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6675120" y="3557016"/>
            <a:ext cx="4965192" cy="731520"/>
          </a:xfrm>
          <a:prstGeom prst="roundRect">
            <a:avLst>
              <a:gd name="adj" fmla="val 11250"/>
            </a:avLst>
          </a:prstGeom>
          <a:solidFill>
            <a:srgbClr val="1C1C22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931152" y="3840480"/>
            <a:ext cx="182880" cy="182880"/>
          </a:xfrm>
          <a:prstGeom prst="ellipse">
            <a:avLst/>
          </a:prstGeom>
          <a:solidFill>
            <a:srgbClr val="E7C34A"/>
          </a:solidFill>
          <a:ln/>
        </p:spPr>
      </p:sp>
      <p:sp>
        <p:nvSpPr>
          <p:cNvPr id="20" name="Text 17"/>
          <p:cNvSpPr/>
          <p:nvPr/>
        </p:nvSpPr>
        <p:spPr>
          <a:xfrm>
            <a:off x="7242048" y="36484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 / üretici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242048" y="3941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Kitle + içerik ortaklıkları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634472" y="3557016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7C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6675120" y="4398264"/>
            <a:ext cx="4965192" cy="731520"/>
          </a:xfrm>
          <a:prstGeom prst="roundRect">
            <a:avLst>
              <a:gd name="adj" fmla="val 11250"/>
            </a:avLst>
          </a:prstGeom>
          <a:solidFill>
            <a:srgbClr val="1C1C22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4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31152" y="4681728"/>
            <a:ext cx="182880" cy="182880"/>
          </a:xfrm>
          <a:prstGeom prst="ellipse">
            <a:avLst/>
          </a:prstGeom>
          <a:solidFill>
            <a:srgbClr val="C88CE0"/>
          </a:solidFill>
          <a:ln/>
        </p:spPr>
      </p:sp>
      <p:sp>
        <p:nvSpPr>
          <p:cNvPr id="25" name="Text 22"/>
          <p:cNvSpPr/>
          <p:nvPr/>
        </p:nvSpPr>
        <p:spPr>
          <a:xfrm>
            <a:off x="7242048" y="448970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&amp; topluluk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242048" y="47823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Medya + Discord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634472" y="4398264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88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6675120" y="5239512"/>
            <a:ext cx="4965192" cy="731520"/>
          </a:xfrm>
          <a:prstGeom prst="roundRect">
            <a:avLst>
              <a:gd name="adj" fmla="val 11250"/>
            </a:avLst>
          </a:prstGeom>
          <a:solidFill>
            <a:srgbClr val="1C1C22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4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931152" y="5522976"/>
            <a:ext cx="182880" cy="182880"/>
          </a:xfrm>
          <a:prstGeom prst="ellipse">
            <a:avLst/>
          </a:prstGeom>
          <a:solidFill>
            <a:srgbClr val="8C8F88"/>
          </a:solidFill>
          <a:ln/>
        </p:spPr>
      </p:sp>
      <p:sp>
        <p:nvSpPr>
          <p:cNvPr id="30" name="Text 27"/>
          <p:cNvSpPr/>
          <p:nvPr/>
        </p:nvSpPr>
        <p:spPr>
          <a:xfrm>
            <a:off x="7242048" y="53309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Yaratıcı üretim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242048" y="5623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 görseli/video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0634472" y="5239512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D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REKLAM &amp; LANSMAN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aylık takvim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VAELO · Bütçe &amp; Lansman Planı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33272" y="2057400"/>
            <a:ext cx="0" cy="3493008"/>
          </a:xfrm>
          <a:prstGeom prst="line">
            <a:avLst/>
          </a:prstGeom>
          <a:noFill/>
          <a:ln w="19050">
            <a:solidFill>
              <a:srgbClr val="2E2E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965960"/>
            <a:ext cx="237744" cy="237744"/>
          </a:xfrm>
          <a:prstGeom prst="ellipse">
            <a:avLst/>
          </a:prstGeom>
          <a:solidFill>
            <a:srgbClr val="CDFF4A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920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D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 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697480" y="19202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canlı · site yayında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2532888"/>
            <a:ext cx="237744" cy="237744"/>
          </a:xfrm>
          <a:prstGeom prst="ellipse">
            <a:avLst/>
          </a:prstGeom>
          <a:solidFill>
            <a:srgbClr val="CDFF4A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24871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D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 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97480" y="24871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Yumuşak lansman · ilk yarışma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3099816"/>
            <a:ext cx="237744" cy="237744"/>
          </a:xfrm>
          <a:prstGeom prst="ellipse">
            <a:avLst/>
          </a:prstGeom>
          <a:solidFill>
            <a:srgbClr val="E7C34A"/>
          </a:solidFill>
          <a:ln/>
        </p:spPr>
      </p:sp>
      <p:sp>
        <p:nvSpPr>
          <p:cNvPr id="14" name="Text 12"/>
          <p:cNvSpPr/>
          <p:nvPr/>
        </p:nvSpPr>
        <p:spPr>
          <a:xfrm>
            <a:off x="1417320" y="305409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C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 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97480" y="3054096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Kamuya lansman · PR · ücretli reklam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4400" y="3666744"/>
            <a:ext cx="237744" cy="237744"/>
          </a:xfrm>
          <a:prstGeom prst="ellipse">
            <a:avLst/>
          </a:prstGeom>
          <a:solidFill>
            <a:srgbClr val="E7C34A"/>
          </a:solidFill>
          <a:ln/>
        </p:spPr>
      </p:sp>
      <p:sp>
        <p:nvSpPr>
          <p:cNvPr id="17" name="Text 15"/>
          <p:cNvSpPr/>
          <p:nvPr/>
        </p:nvSpPr>
        <p:spPr>
          <a:xfrm>
            <a:off x="1417320" y="362102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C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 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697480" y="362102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mağaza (App Store / Play)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14400" y="4233672"/>
            <a:ext cx="237744" cy="237744"/>
          </a:xfrm>
          <a:prstGeom prst="ellipse">
            <a:avLst/>
          </a:prstGeom>
          <a:solidFill>
            <a:srgbClr val="5AB0E6"/>
          </a:solidFill>
          <a:ln/>
        </p:spPr>
      </p:sp>
      <p:sp>
        <p:nvSpPr>
          <p:cNvPr id="20" name="Text 18"/>
          <p:cNvSpPr/>
          <p:nvPr/>
        </p:nvSpPr>
        <p:spPr>
          <a:xfrm>
            <a:off x="1417320" y="41879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B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 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697480" y="418795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sponsor anlaşması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14400" y="4800600"/>
            <a:ext cx="237744" cy="237744"/>
          </a:xfrm>
          <a:prstGeom prst="ellipse">
            <a:avLst/>
          </a:prstGeom>
          <a:solidFill>
            <a:srgbClr val="5AB0E6"/>
          </a:solidFill>
          <a:ln/>
        </p:spPr>
      </p:sp>
      <p:sp>
        <p:nvSpPr>
          <p:cNvPr id="23" name="Text 21"/>
          <p:cNvSpPr/>
          <p:nvPr/>
        </p:nvSpPr>
        <p:spPr>
          <a:xfrm>
            <a:off x="1417320" y="4754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B0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 9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697480" y="47548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 reklam · üretici ödemeleri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14400" y="5367528"/>
            <a:ext cx="237744" cy="237744"/>
          </a:xfrm>
          <a:prstGeom prst="ellipse">
            <a:avLst/>
          </a:prstGeom>
          <a:solidFill>
            <a:srgbClr val="CDFF4A"/>
          </a:solidFill>
          <a:ln/>
        </p:spPr>
      </p:sp>
      <p:sp>
        <p:nvSpPr>
          <p:cNvPr id="26" name="Text 24"/>
          <p:cNvSpPr/>
          <p:nvPr/>
        </p:nvSpPr>
        <p:spPr>
          <a:xfrm>
            <a:off x="1417320" y="53218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D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 12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697480" y="532180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 — gelir &gt; altyapı maliyeti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D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HEDEFLER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Çeyreklik büyüme hedefleri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VAELO · Bütçe &amp; Lansman Planı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91672" cy="3547872"/>
          </a:xfrm>
          <a:prstGeom prst="roundRect">
            <a:avLst>
              <a:gd name="adj" fmla="val 2320"/>
            </a:avLst>
          </a:prstGeom>
          <a:solidFill>
            <a:srgbClr val="15151A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965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566160" y="196596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CD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Çeyrek 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50992" y="196596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CD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Çeyrek 2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35824" y="196596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CD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Çeyrek 3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820656" y="1965960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CD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Çeyrek 4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2468880"/>
            <a:ext cx="10543032" cy="0"/>
          </a:xfrm>
          <a:prstGeom prst="line">
            <a:avLst/>
          </a:prstGeom>
          <a:noFill/>
          <a:ln w="9525">
            <a:solidFill>
              <a:srgbClr val="2E2E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46888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66160" y="2468880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50992" y="2468880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10.000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35824" y="2468880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40.000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820656" y="2468880"/>
            <a:ext cx="20939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22960" y="3218688"/>
            <a:ext cx="10543032" cy="0"/>
          </a:xfrm>
          <a:prstGeom prst="line">
            <a:avLst/>
          </a:prstGeom>
          <a:noFill/>
          <a:ln w="9525">
            <a:solidFill>
              <a:srgbClr val="2E2E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218688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Yayındaki video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566160" y="3218688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650992" y="3218688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35824" y="3218688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820656" y="3218688"/>
            <a:ext cx="20939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22960" y="3968496"/>
            <a:ext cx="10543032" cy="0"/>
          </a:xfrm>
          <a:prstGeom prst="line">
            <a:avLst/>
          </a:prstGeom>
          <a:noFill/>
          <a:ln w="9525">
            <a:solidFill>
              <a:srgbClr val="2E2E3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968496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 izlenme-dk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566160" y="3968496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bin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650992" y="3968496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bin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735824" y="3968496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 mn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820656" y="3968496"/>
            <a:ext cx="20939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mn+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22960" y="4718304"/>
            <a:ext cx="10543032" cy="0"/>
          </a:xfrm>
          <a:prstGeom prst="line">
            <a:avLst/>
          </a:prstGeom>
          <a:noFill/>
          <a:ln w="9525">
            <a:solidFill>
              <a:srgbClr val="2E2E3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4718304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 gelir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3566160" y="4718304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650992" y="4718304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ilk sponsor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735824" y="4718304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$3–6K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820656" y="4718304"/>
            <a:ext cx="20939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$15K+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Rakamlar “Destekli lansman” senaryosunun hedefleridir; içerik ve pazarlama yoğunluğuna göre değişir.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D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SÜRDÜRÜLEBILIRLIK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Gelir, altyapı maliyetini geçer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VAELO · Bütçe &amp; Lansman Planı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7040880" cy="4160520"/>
          </a:xfrm>
          <a:prstGeom prst="roundRect">
            <a:avLst>
              <a:gd name="adj" fmla="val 1978"/>
            </a:avLst>
          </a:prstGeom>
          <a:solidFill>
            <a:srgbClr val="15151A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45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777240" y="2057400"/>
          <a:ext cx="658368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863840" y="1828800"/>
            <a:ext cx="3776472" cy="4160520"/>
          </a:xfrm>
          <a:prstGeom prst="roundRect">
            <a:avLst>
              <a:gd name="adj" fmla="val 2179"/>
            </a:avLst>
          </a:prstGeom>
          <a:solidFill>
            <a:srgbClr val="18200B"/>
          </a:solidFill>
          <a:ln w="12700">
            <a:solidFill>
              <a:srgbClr val="3C4A18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138160" y="210312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D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BİRİM EKONOMİ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38160" y="2514600"/>
            <a:ext cx="3227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$0,001</a:t>
            </a:r>
            <a:pPr indent="0" marL="0">
              <a:buNone/>
            </a:pPr>
            <a:r>
              <a:rPr lang="en-US" sz="125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izlenen dakika teslim maliyeti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138160" y="3383280"/>
            <a:ext cx="3227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D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$0,005–0,02</a:t>
            </a:r>
            <a:pPr indent="0" marL="0">
              <a:buNone/>
            </a:pPr>
            <a:r>
              <a:rPr lang="en-US" sz="125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izleme reklam geliri (CPM $5–20)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8138160" y="4389120"/>
            <a:ext cx="3227832" cy="0"/>
          </a:xfrm>
          <a:prstGeom prst="line">
            <a:avLst/>
          </a:prstGeom>
          <a:noFill/>
          <a:ln w="9525">
            <a:solidFill>
              <a:srgbClr val="3C4A1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38160" y="4526280"/>
            <a:ext cx="32278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Teslim maliyeti reklam geliriyle karşılanır; hacim büyüdükçe marj açılır. Sanatçı payı (RPM) panelden ayarlanır.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200400"/>
            <a:ext cx="8229600" cy="8229600"/>
          </a:xfrm>
          <a:prstGeom prst="ellipse">
            <a:avLst/>
          </a:prstGeom>
          <a:solidFill>
            <a:srgbClr val="CDFF4A">
              <a:alpha val="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D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ÖZET &amp; ÖNERİ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Çalışan ürün + pozitif birim ekonomi.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Doğru an, doğru bütçe.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3502152" cy="2194560"/>
          </a:xfrm>
          <a:prstGeom prst="roundRect">
            <a:avLst>
              <a:gd name="adj" fmla="val 3750"/>
            </a:avLst>
          </a:prstGeom>
          <a:solidFill>
            <a:srgbClr val="1C1C22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502152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Önerilen bütçe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3813048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DF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~$30K / 12 ay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452628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Destekli lansman — dengeli büyüme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3246120"/>
            <a:ext cx="3502152" cy="2194560"/>
          </a:xfrm>
          <a:prstGeom prst="roundRect">
            <a:avLst>
              <a:gd name="adj" fmla="val 3750"/>
            </a:avLst>
          </a:prstGeom>
          <a:solidFill>
            <a:srgbClr val="1C1C22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99432" y="3502152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Neden şimdi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99432" y="3813048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Ürün canlı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99432" y="452628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hariç her şey çalışıyor; kalan tek adım Cloudflare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01584" y="3246120"/>
            <a:ext cx="3502152" cy="2194560"/>
          </a:xfrm>
          <a:prstGeom prst="roundRect">
            <a:avLst>
              <a:gd name="adj" fmla="val 3750"/>
            </a:avLst>
          </a:prstGeom>
          <a:solidFill>
            <a:srgbClr val="1C1C22"/>
          </a:solidFill>
          <a:ln w="12700">
            <a:solidFill>
              <a:srgbClr val="2E2E36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75904" y="3502152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Sıradaki hamle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75904" y="3813048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+ alt yazı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375904" y="452628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Stream'i bağla → yumuşak lansmana geç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Vaelo — yapay zekâ yapımı film, dizi ve sanat · her zaman ücretsiz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Vaelo — Bütçe &amp; Lansman Planı</dc:title>
  <dc:subject>PptxGenJS Presentation</dc:subject>
  <dc:creator>Vaelo</dc:creator>
  <cp:lastModifiedBy>Vaelo</cp:lastModifiedBy>
  <cp:revision>1</cp:revision>
  <dcterms:created xsi:type="dcterms:W3CDTF">2026-08-04T19:39:30Z</dcterms:created>
  <dcterms:modified xsi:type="dcterms:W3CDTF">2026-08-04T19:39:30Z</dcterms:modified>
</cp:coreProperties>
</file>